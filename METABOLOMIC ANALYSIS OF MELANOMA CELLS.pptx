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2000"/>
  <p:notesSz cx="6858000" cy="9144000"/>
  <p:embeddedFontLst>
    <p:embeddedFont>
      <p:font typeface="Play"/>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hlXj6WPnGzIYWDV6HbZD92KCH8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Play-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customschemas.google.com/relationships/presentationmetadata" Target="metadata"/><Relationship Id="rId12" Type="http://schemas.openxmlformats.org/officeDocument/2006/relationships/slide" Target="slides/slide8.xml"/><Relationship Id="rId34" Type="http://schemas.openxmlformats.org/officeDocument/2006/relationships/font" Target="fonts/Play-bold.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8"/>
          <p:cNvSpPr/>
          <p:nvPr>
            <p:ph idx="2" type="pic"/>
          </p:nvPr>
        </p:nvSpPr>
        <p:spPr>
          <a:xfrm>
            <a:off x="5183188" y="987425"/>
            <a:ext cx="6172200" cy="4873625"/>
          </a:xfrm>
          <a:prstGeom prst="rect">
            <a:avLst/>
          </a:prstGeom>
          <a:noFill/>
          <a:ln>
            <a:noFill/>
          </a:ln>
        </p:spPr>
      </p:sp>
      <p:sp>
        <p:nvSpPr>
          <p:cNvPr id="68" name="Google Shape;68;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hyperlink" Target="https://doi.org/10.1093/nar/gkae253" TargetMode="External"/><Relationship Id="rId6" Type="http://schemas.openxmlformats.org/officeDocument/2006/relationships/hyperlink" Target="https://doi.org/10.1093/nar/gky31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smpdb.ca/" TargetMode="Externa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0"/>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it-IT"/>
              <a:t>METABOLOMIC ANALYSIS OF MELANOMA CELLS </a:t>
            </a:r>
            <a:endParaRPr/>
          </a:p>
        </p:txBody>
      </p:sp>
      <p:sp>
        <p:nvSpPr>
          <p:cNvPr id="89" name="Google Shape;89;p1"/>
          <p:cNvSpPr txBox="1"/>
          <p:nvPr>
            <p:ph idx="1" type="subTitle"/>
          </p:nvPr>
        </p:nvSpPr>
        <p:spPr>
          <a:xfrm>
            <a:off x="1524000" y="2248157"/>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it-IT"/>
              <a:t>Analyses performed on SK-Mel31 VEGFR2 WT, VEGFR2 R1032Q, VEGFR2 WT SLC1A5 SH, VEGFR2 R1032Q SLC1A5 SH cells</a:t>
            </a:r>
            <a:endParaRPr/>
          </a:p>
        </p:txBody>
      </p:sp>
      <p:sp>
        <p:nvSpPr>
          <p:cNvPr id="90" name="Google Shape;90;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t-IT"/>
              <a:t>AUTHOR : Manjot Singh, master’s student</a:t>
            </a:r>
            <a:endParaRPr/>
          </a:p>
        </p:txBody>
      </p:sp>
      <p:sp>
        <p:nvSpPr>
          <p:cNvPr id="91" name="Google Shape;91;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92" name="Google Shape;92;p1"/>
          <p:cNvPicPr preferRelativeResize="0"/>
          <p:nvPr/>
        </p:nvPicPr>
        <p:blipFill rotWithShape="1">
          <a:blip r:embed="rId3">
            <a:alphaModFix/>
          </a:blip>
          <a:srcRect b="0" l="0" r="0" t="0"/>
          <a:stretch/>
        </p:blipFill>
        <p:spPr>
          <a:xfrm>
            <a:off x="3685858" y="3290417"/>
            <a:ext cx="4924742" cy="306593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title"/>
          </p:nvPr>
        </p:nvSpPr>
        <p:spPr>
          <a:xfrm>
            <a:off x="838200" y="9693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it-IT" sz="3600"/>
              <a:t>1. PCA, VOLCANO PLOT, &amp; PATHWAY ENRICHMENT ANALYSES  of WT vs R1032Q</a:t>
            </a:r>
            <a:endParaRPr/>
          </a:p>
        </p:txBody>
      </p:sp>
      <p:sp>
        <p:nvSpPr>
          <p:cNvPr id="98" name="Google Shape;98;p2"/>
          <p:cNvSpPr txBox="1"/>
          <p:nvPr>
            <p:ph idx="1" type="body"/>
          </p:nvPr>
        </p:nvSpPr>
        <p:spPr>
          <a:xfrm>
            <a:off x="838200" y="1422502"/>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it-IT" sz="1800">
                <a:latin typeface="Arial"/>
                <a:ea typeface="Arial"/>
                <a:cs typeface="Arial"/>
                <a:sym typeface="Arial"/>
              </a:rPr>
              <a:t>PCA has been performed in R software ( R version 4.6.0) using the following libraries: corrr, ggcorrplot, Factominer, factoextra, readxl, ggplot2, tidyverse, ggrepel, dplyr</a:t>
            </a:r>
            <a:endParaRPr/>
          </a:p>
          <a:p>
            <a:pPr indent="-228600" lvl="0" marL="228600" rtl="0" algn="l">
              <a:lnSpc>
                <a:spcPct val="90000"/>
              </a:lnSpc>
              <a:spcBef>
                <a:spcPts val="1000"/>
              </a:spcBef>
              <a:spcAft>
                <a:spcPts val="0"/>
              </a:spcAft>
              <a:buClr>
                <a:schemeClr val="dk1"/>
              </a:buClr>
              <a:buSzPts val="1800"/>
              <a:buChar char="•"/>
            </a:pPr>
            <a:r>
              <a:rPr lang="it-IT" sz="1800">
                <a:latin typeface="Arial"/>
                <a:ea typeface="Arial"/>
                <a:cs typeface="Arial"/>
                <a:sym typeface="Arial"/>
              </a:rPr>
              <a:t>The code will be uploaded into github and rendered public. </a:t>
            </a:r>
            <a:endParaRPr/>
          </a:p>
          <a:p>
            <a:pPr indent="-228600" lvl="0" marL="228600" rtl="0" algn="l">
              <a:lnSpc>
                <a:spcPct val="90000"/>
              </a:lnSpc>
              <a:spcBef>
                <a:spcPts val="1000"/>
              </a:spcBef>
              <a:spcAft>
                <a:spcPts val="0"/>
              </a:spcAft>
              <a:buClr>
                <a:schemeClr val="dk1"/>
              </a:buClr>
              <a:buSzPts val="1800"/>
              <a:buChar char="•"/>
            </a:pPr>
            <a:r>
              <a:rPr lang="it-IT" sz="1800">
                <a:latin typeface="Arial"/>
                <a:ea typeface="Arial"/>
                <a:cs typeface="Arial"/>
                <a:sym typeface="Arial"/>
              </a:rPr>
              <a:t>The following is the PCA obtained for VEGFR2 WT and VEGFR2 R1032Q</a:t>
            </a:r>
            <a:endParaRPr/>
          </a:p>
          <a:p>
            <a:pPr indent="-114300" lvl="0" marL="228600" rtl="0" algn="l">
              <a:lnSpc>
                <a:spcPct val="90000"/>
              </a:lnSpc>
              <a:spcBef>
                <a:spcPts val="1000"/>
              </a:spcBef>
              <a:spcAft>
                <a:spcPts val="0"/>
              </a:spcAft>
              <a:buClr>
                <a:schemeClr val="dk1"/>
              </a:buClr>
              <a:buSzPts val="1800"/>
              <a:buNone/>
            </a:pPr>
            <a:r>
              <a:t/>
            </a:r>
            <a:endParaRPr sz="1800">
              <a:latin typeface="Arial"/>
              <a:ea typeface="Arial"/>
              <a:cs typeface="Arial"/>
              <a:sym typeface="Arial"/>
            </a:endParaRPr>
          </a:p>
        </p:txBody>
      </p:sp>
      <p:pic>
        <p:nvPicPr>
          <p:cNvPr id="99" name="Google Shape;99;p2"/>
          <p:cNvPicPr preferRelativeResize="0"/>
          <p:nvPr/>
        </p:nvPicPr>
        <p:blipFill rotWithShape="1">
          <a:blip r:embed="rId3">
            <a:alphaModFix/>
          </a:blip>
          <a:srcRect b="0" l="0" r="0" t="4154"/>
          <a:stretch/>
        </p:blipFill>
        <p:spPr>
          <a:xfrm>
            <a:off x="2314812" y="2910348"/>
            <a:ext cx="7562375" cy="3744944"/>
          </a:xfrm>
          <a:prstGeom prst="rect">
            <a:avLst/>
          </a:prstGeom>
          <a:noFill/>
          <a:ln>
            <a:noFill/>
          </a:ln>
        </p:spPr>
      </p:pic>
      <p:sp>
        <p:nvSpPr>
          <p:cNvPr id="100" name="Google Shape;100;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01" name="Google Shape;10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idx="1" type="body"/>
          </p:nvPr>
        </p:nvSpPr>
        <p:spPr>
          <a:xfrm>
            <a:off x="838200" y="365124"/>
            <a:ext cx="10515600" cy="60356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it-IT" sz="1800"/>
              <a:t>Data have been clustered along PC1 and PC2, being the components responsible for the majority of the variance of the studied dataset, as demonstrated in the following graph, shown along side the correlation matrix</a:t>
            </a:r>
            <a:endParaRPr/>
          </a:p>
          <a:p>
            <a:pPr indent="-114300" lvl="0" marL="228600" rtl="0" algn="l">
              <a:lnSpc>
                <a:spcPct val="90000"/>
              </a:lnSpc>
              <a:spcBef>
                <a:spcPts val="1000"/>
              </a:spcBef>
              <a:spcAft>
                <a:spcPts val="0"/>
              </a:spcAft>
              <a:buClr>
                <a:schemeClr val="dk1"/>
              </a:buClr>
              <a:buSzPts val="1800"/>
              <a:buNone/>
            </a:pPr>
            <a:r>
              <a:t/>
            </a:r>
            <a:endParaRPr sz="1800"/>
          </a:p>
          <a:p>
            <a:pPr indent="-114300" lvl="0" marL="228600" rtl="0" algn="l">
              <a:lnSpc>
                <a:spcPct val="90000"/>
              </a:lnSpc>
              <a:spcBef>
                <a:spcPts val="1000"/>
              </a:spcBef>
              <a:spcAft>
                <a:spcPts val="0"/>
              </a:spcAft>
              <a:buClr>
                <a:schemeClr val="dk1"/>
              </a:buClr>
              <a:buSzPts val="1800"/>
              <a:buNone/>
            </a:pPr>
            <a:r>
              <a:t/>
            </a:r>
            <a:endParaRPr sz="1800"/>
          </a:p>
          <a:p>
            <a:pPr indent="-114300" lvl="0" marL="228600" rtl="0" algn="l">
              <a:lnSpc>
                <a:spcPct val="90000"/>
              </a:lnSpc>
              <a:spcBef>
                <a:spcPts val="1000"/>
              </a:spcBef>
              <a:spcAft>
                <a:spcPts val="0"/>
              </a:spcAft>
              <a:buClr>
                <a:schemeClr val="dk1"/>
              </a:buClr>
              <a:buSzPts val="1800"/>
              <a:buNone/>
            </a:pPr>
            <a:r>
              <a:t/>
            </a:r>
            <a:endParaRPr sz="1800"/>
          </a:p>
          <a:p>
            <a:pPr indent="-114300" lvl="0" marL="228600" rtl="0" algn="l">
              <a:lnSpc>
                <a:spcPct val="90000"/>
              </a:lnSpc>
              <a:spcBef>
                <a:spcPts val="1000"/>
              </a:spcBef>
              <a:spcAft>
                <a:spcPts val="0"/>
              </a:spcAft>
              <a:buClr>
                <a:schemeClr val="dk1"/>
              </a:buClr>
              <a:buSzPts val="1800"/>
              <a:buNone/>
            </a:pPr>
            <a:r>
              <a:t/>
            </a:r>
            <a:endParaRPr sz="1800"/>
          </a:p>
          <a:p>
            <a:pPr indent="-114300" lvl="0" marL="228600" rtl="0" algn="l">
              <a:lnSpc>
                <a:spcPct val="90000"/>
              </a:lnSpc>
              <a:spcBef>
                <a:spcPts val="1000"/>
              </a:spcBef>
              <a:spcAft>
                <a:spcPts val="0"/>
              </a:spcAft>
              <a:buClr>
                <a:schemeClr val="dk1"/>
              </a:buClr>
              <a:buSzPts val="1800"/>
              <a:buNone/>
            </a:pPr>
            <a:r>
              <a:t/>
            </a:r>
            <a:endParaRPr sz="1800"/>
          </a:p>
          <a:p>
            <a:pPr indent="-114300" lvl="0" marL="228600" rtl="0" algn="l">
              <a:lnSpc>
                <a:spcPct val="90000"/>
              </a:lnSpc>
              <a:spcBef>
                <a:spcPts val="1000"/>
              </a:spcBef>
              <a:spcAft>
                <a:spcPts val="0"/>
              </a:spcAft>
              <a:buClr>
                <a:schemeClr val="dk1"/>
              </a:buClr>
              <a:buSzPts val="1800"/>
              <a:buNone/>
            </a:pPr>
            <a:r>
              <a:t/>
            </a:r>
            <a:endParaRPr sz="1800"/>
          </a:p>
          <a:p>
            <a:pPr indent="-114300" lvl="0" marL="228600" rtl="0" algn="l">
              <a:lnSpc>
                <a:spcPct val="90000"/>
              </a:lnSpc>
              <a:spcBef>
                <a:spcPts val="1000"/>
              </a:spcBef>
              <a:spcAft>
                <a:spcPts val="0"/>
              </a:spcAft>
              <a:buClr>
                <a:schemeClr val="dk1"/>
              </a:buClr>
              <a:buSzPts val="1800"/>
              <a:buNone/>
            </a:pPr>
            <a:r>
              <a:t/>
            </a:r>
            <a:endParaRPr sz="1800"/>
          </a:p>
          <a:p>
            <a:pPr indent="-114300" lvl="0" marL="228600" rtl="0" algn="l">
              <a:lnSpc>
                <a:spcPct val="90000"/>
              </a:lnSpc>
              <a:spcBef>
                <a:spcPts val="1000"/>
              </a:spcBef>
              <a:spcAft>
                <a:spcPts val="0"/>
              </a:spcAft>
              <a:buClr>
                <a:schemeClr val="dk1"/>
              </a:buClr>
              <a:buSzPts val="1800"/>
              <a:buNone/>
            </a:pPr>
            <a:r>
              <a:t/>
            </a:r>
            <a:endParaRPr sz="1800"/>
          </a:p>
          <a:p>
            <a:pPr indent="-114300" lvl="0" marL="228600" rtl="0" algn="l">
              <a:lnSpc>
                <a:spcPct val="90000"/>
              </a:lnSpc>
              <a:spcBef>
                <a:spcPts val="1000"/>
              </a:spcBef>
              <a:spcAft>
                <a:spcPts val="0"/>
              </a:spcAft>
              <a:buClr>
                <a:schemeClr val="dk1"/>
              </a:buClr>
              <a:buSzPts val="1800"/>
              <a:buNone/>
            </a:pPr>
            <a:r>
              <a:t/>
            </a:r>
            <a:endParaRPr sz="1800"/>
          </a:p>
          <a:p>
            <a:pPr indent="-114300" lvl="0" marL="228600" rtl="0" algn="l">
              <a:lnSpc>
                <a:spcPct val="90000"/>
              </a:lnSpc>
              <a:spcBef>
                <a:spcPts val="1000"/>
              </a:spcBef>
              <a:spcAft>
                <a:spcPts val="0"/>
              </a:spcAft>
              <a:buClr>
                <a:schemeClr val="dk1"/>
              </a:buClr>
              <a:buSzPts val="1800"/>
              <a:buNone/>
            </a:pPr>
            <a:r>
              <a:t/>
            </a:r>
            <a:endParaRPr sz="1800"/>
          </a:p>
          <a:p>
            <a:pPr indent="-114300" lvl="0" marL="228600" rtl="0" algn="l">
              <a:lnSpc>
                <a:spcPct val="90000"/>
              </a:lnSpc>
              <a:spcBef>
                <a:spcPts val="1000"/>
              </a:spcBef>
              <a:spcAft>
                <a:spcPts val="0"/>
              </a:spcAft>
              <a:buClr>
                <a:schemeClr val="dk1"/>
              </a:buClr>
              <a:buSzPts val="1800"/>
              <a:buNone/>
            </a:pPr>
            <a:r>
              <a:t/>
            </a:r>
            <a:endParaRPr sz="1800"/>
          </a:p>
          <a:p>
            <a:pPr indent="-228600" lvl="0" marL="228600" rtl="0" algn="l">
              <a:lnSpc>
                <a:spcPct val="90000"/>
              </a:lnSpc>
              <a:spcBef>
                <a:spcPts val="1000"/>
              </a:spcBef>
              <a:spcAft>
                <a:spcPts val="0"/>
              </a:spcAft>
              <a:buClr>
                <a:schemeClr val="dk1"/>
              </a:buClr>
              <a:buSzPts val="1800"/>
              <a:buChar char="•"/>
            </a:pPr>
            <a:r>
              <a:rPr lang="it-IT" sz="1800"/>
              <a:t>Principal component analysis has produced two quasi distinct clusters, as a certain degree of overlap is observed. Nonetheless, one can infer that there are indeed two cellular populations of Sk-mel31. However, there is a considerable intra-cluster variance due to batch dependent and random variations.</a:t>
            </a:r>
            <a:endParaRPr/>
          </a:p>
        </p:txBody>
      </p:sp>
      <p:pic>
        <p:nvPicPr>
          <p:cNvPr id="107" name="Google Shape;107;p3"/>
          <p:cNvPicPr preferRelativeResize="0"/>
          <p:nvPr/>
        </p:nvPicPr>
        <p:blipFill rotWithShape="1">
          <a:blip r:embed="rId3">
            <a:alphaModFix/>
          </a:blip>
          <a:srcRect b="0" l="0" r="0" t="0"/>
          <a:stretch/>
        </p:blipFill>
        <p:spPr>
          <a:xfrm>
            <a:off x="442125" y="1270038"/>
            <a:ext cx="5410199" cy="3864428"/>
          </a:xfrm>
          <a:prstGeom prst="rect">
            <a:avLst/>
          </a:prstGeom>
          <a:noFill/>
          <a:ln>
            <a:noFill/>
          </a:ln>
        </p:spPr>
      </p:pic>
      <p:pic>
        <p:nvPicPr>
          <p:cNvPr id="108" name="Google Shape;108;p3"/>
          <p:cNvPicPr preferRelativeResize="0"/>
          <p:nvPr/>
        </p:nvPicPr>
        <p:blipFill rotWithShape="1">
          <a:blip r:embed="rId4">
            <a:alphaModFix/>
          </a:blip>
          <a:srcRect b="0" l="0" r="0" t="0"/>
          <a:stretch/>
        </p:blipFill>
        <p:spPr>
          <a:xfrm>
            <a:off x="6339678" y="1518193"/>
            <a:ext cx="5062782" cy="3616273"/>
          </a:xfrm>
          <a:prstGeom prst="rect">
            <a:avLst/>
          </a:prstGeom>
          <a:noFill/>
          <a:ln>
            <a:noFill/>
          </a:ln>
        </p:spPr>
      </p:pic>
      <p:sp>
        <p:nvSpPr>
          <p:cNvPr id="109" name="Google Shape;10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10" name="Google Shape;11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ph idx="1" type="body"/>
          </p:nvPr>
        </p:nvSpPr>
        <p:spPr>
          <a:xfrm>
            <a:off x="838200" y="3651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400"/>
              <a:buChar char="•"/>
            </a:pPr>
            <a:r>
              <a:rPr lang="it-IT" sz="1400">
                <a:latin typeface="Times New Roman"/>
                <a:ea typeface="Times New Roman"/>
                <a:cs typeface="Times New Roman"/>
                <a:sym typeface="Times New Roman"/>
              </a:rPr>
              <a:t>The subsequent volcano plot highlights the significant fold changes of metabolites. The p-value has been calculated using Welch T-testing method, assuming unequal variances. No correction has been applied as the sample sizes used for student testing made the implementation of BH(FDR calculation) correction unnecessary.  P-value of 0.05 and Log2 FC of 0.2 were used as cut-off values. Fold changes were calculated by comparing VEGFR2 R1032Q against VEGFR2 WT.</a:t>
            </a:r>
            <a:endParaRPr/>
          </a:p>
        </p:txBody>
      </p:sp>
      <p:pic>
        <p:nvPicPr>
          <p:cNvPr id="116" name="Google Shape;116;p4"/>
          <p:cNvPicPr preferRelativeResize="0"/>
          <p:nvPr/>
        </p:nvPicPr>
        <p:blipFill rotWithShape="1">
          <a:blip r:embed="rId3">
            <a:alphaModFix/>
          </a:blip>
          <a:srcRect b="0" l="0" r="0" t="0"/>
          <a:stretch/>
        </p:blipFill>
        <p:spPr>
          <a:xfrm>
            <a:off x="2520745" y="1223443"/>
            <a:ext cx="7150510" cy="5107507"/>
          </a:xfrm>
          <a:prstGeom prst="rect">
            <a:avLst/>
          </a:prstGeom>
          <a:noFill/>
          <a:ln>
            <a:noFill/>
          </a:ln>
        </p:spPr>
      </p:pic>
      <p:sp>
        <p:nvSpPr>
          <p:cNvPr id="117" name="Google Shape;11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18" name="Google Shape;11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idx="1" type="body"/>
          </p:nvPr>
        </p:nvSpPr>
        <p:spPr>
          <a:xfrm>
            <a:off x="838200" y="303213"/>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it-IT" sz="1600">
                <a:latin typeface="Times New Roman"/>
                <a:ea typeface="Times New Roman"/>
                <a:cs typeface="Times New Roman"/>
                <a:sym typeface="Times New Roman"/>
              </a:rPr>
              <a:t>Metabolites such as Glutamate, Hydroxyproline, Hydroxyglutarate, and Proline are increased. This implies an upregulation of the Glutaminolytic pathway, and of the synthesis of collagen precursors. Moreover an increase of TCA cycle kinetics is indirectly corroborated by the accumulation of Hydroxyglutarate.</a:t>
            </a:r>
            <a:endParaRPr/>
          </a:p>
          <a:p>
            <a:pPr indent="-228600" lvl="0" marL="228600" rtl="0" algn="l">
              <a:lnSpc>
                <a:spcPct val="90000"/>
              </a:lnSpc>
              <a:spcBef>
                <a:spcPts val="1000"/>
              </a:spcBef>
              <a:spcAft>
                <a:spcPts val="0"/>
              </a:spcAft>
              <a:buClr>
                <a:schemeClr val="dk1"/>
              </a:buClr>
              <a:buSzPts val="1600"/>
              <a:buChar char="•"/>
            </a:pPr>
            <a:r>
              <a:rPr lang="it-IT" sz="1600">
                <a:latin typeface="Times New Roman"/>
                <a:ea typeface="Times New Roman"/>
                <a:cs typeface="Times New Roman"/>
                <a:sym typeface="Times New Roman"/>
              </a:rPr>
              <a:t>On the other hand, a reduction in Serine concentration implies that its precursor, 3-phosphoglycerate, is funnelled through the glycolytic pathway. </a:t>
            </a:r>
            <a:endParaRPr/>
          </a:p>
          <a:p>
            <a:pPr indent="-228600" lvl="0" marL="228600" rtl="0" algn="l">
              <a:lnSpc>
                <a:spcPct val="90000"/>
              </a:lnSpc>
              <a:spcBef>
                <a:spcPts val="1000"/>
              </a:spcBef>
              <a:spcAft>
                <a:spcPts val="0"/>
              </a:spcAft>
              <a:buClr>
                <a:schemeClr val="dk1"/>
              </a:buClr>
              <a:buSzPts val="1600"/>
              <a:buChar char="•"/>
            </a:pPr>
            <a:r>
              <a:rPr lang="it-IT" sz="1600">
                <a:latin typeface="Times New Roman"/>
                <a:ea typeface="Times New Roman"/>
                <a:cs typeface="Times New Roman"/>
                <a:sym typeface="Times New Roman"/>
              </a:rPr>
              <a:t>These considerations are corroborated by pathway enrichment analyses shown in the following pages. The idea is to perform a metabolic equivalent of GSEA so as to identify those metabolic pathways in which the most significant metabolites, i.e. those whose concentration variation are statistically  significant, act as metabolic intermediates. </a:t>
            </a:r>
            <a:endParaRPr/>
          </a:p>
          <a:p>
            <a:pPr indent="-228600" lvl="0" marL="228600" rtl="0" algn="l">
              <a:lnSpc>
                <a:spcPct val="90000"/>
              </a:lnSpc>
              <a:spcBef>
                <a:spcPts val="1000"/>
              </a:spcBef>
              <a:spcAft>
                <a:spcPts val="0"/>
              </a:spcAft>
              <a:buClr>
                <a:schemeClr val="dk1"/>
              </a:buClr>
              <a:buSzPts val="1600"/>
              <a:buChar char="•"/>
            </a:pPr>
            <a:r>
              <a:rPr lang="it-IT" sz="1600">
                <a:latin typeface="Times New Roman"/>
                <a:ea typeface="Times New Roman"/>
                <a:cs typeface="Times New Roman"/>
                <a:sym typeface="Times New Roman"/>
              </a:rPr>
              <a:t>The analysis has been performed by downloading the R package of the MetaboAnalyst Software. The script for its installation in the R 4.3.2 version has been rendered available. The installation script has yet to be tested on the R 4.6.0 version. </a:t>
            </a:r>
            <a:endParaRPr/>
          </a:p>
        </p:txBody>
      </p:sp>
      <p:pic>
        <p:nvPicPr>
          <p:cNvPr id="124" name="Google Shape;124;p5"/>
          <p:cNvPicPr preferRelativeResize="0"/>
          <p:nvPr/>
        </p:nvPicPr>
        <p:blipFill rotWithShape="1">
          <a:blip r:embed="rId3">
            <a:alphaModFix/>
          </a:blip>
          <a:srcRect b="0" l="0" r="0" t="0"/>
          <a:stretch/>
        </p:blipFill>
        <p:spPr>
          <a:xfrm>
            <a:off x="276582" y="3318871"/>
            <a:ext cx="6416596" cy="2110923"/>
          </a:xfrm>
          <a:prstGeom prst="rect">
            <a:avLst/>
          </a:prstGeom>
          <a:noFill/>
          <a:ln>
            <a:noFill/>
          </a:ln>
        </p:spPr>
      </p:pic>
      <p:pic>
        <p:nvPicPr>
          <p:cNvPr id="125" name="Google Shape;125;p5"/>
          <p:cNvPicPr preferRelativeResize="0"/>
          <p:nvPr/>
        </p:nvPicPr>
        <p:blipFill rotWithShape="1">
          <a:blip r:embed="rId4">
            <a:alphaModFix/>
          </a:blip>
          <a:srcRect b="0" l="0" r="0" t="0"/>
          <a:stretch/>
        </p:blipFill>
        <p:spPr>
          <a:xfrm>
            <a:off x="6614160" y="3561655"/>
            <a:ext cx="5431063" cy="1625354"/>
          </a:xfrm>
          <a:prstGeom prst="rect">
            <a:avLst/>
          </a:prstGeom>
          <a:noFill/>
          <a:ln>
            <a:noFill/>
          </a:ln>
        </p:spPr>
      </p:pic>
      <p:sp>
        <p:nvSpPr>
          <p:cNvPr id="126" name="Google Shape;126;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t-IT"/>
              <a:t>DOIs: </a:t>
            </a:r>
            <a:r>
              <a:rPr lang="it-IT" u="sng">
                <a:solidFill>
                  <a:schemeClr val="hlink"/>
                </a:solidFill>
                <a:hlinkClick r:id="rId5"/>
              </a:rPr>
              <a:t>https://doi.org/10.1093/nar/gkae253</a:t>
            </a:r>
            <a:r>
              <a:rPr lang="it-IT"/>
              <a:t> , </a:t>
            </a:r>
            <a:r>
              <a:rPr lang="it-IT" u="sng">
                <a:solidFill>
                  <a:schemeClr val="hlink"/>
                </a:solidFill>
                <a:hlinkClick r:id="rId6"/>
              </a:rPr>
              <a:t>https://doi.org/10.1093/nar/gky310</a:t>
            </a:r>
            <a:r>
              <a:rPr lang="it-IT"/>
              <a:t> </a:t>
            </a:r>
            <a:endParaRPr/>
          </a:p>
        </p:txBody>
      </p:sp>
      <p:sp>
        <p:nvSpPr>
          <p:cNvPr id="127" name="Google Shape;12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ph idx="1" type="body"/>
          </p:nvPr>
        </p:nvSpPr>
        <p:spPr>
          <a:xfrm>
            <a:off x="838200" y="101112"/>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400"/>
              <a:buChar char="•"/>
            </a:pPr>
            <a:r>
              <a:rPr lang="it-IT" sz="1400">
                <a:latin typeface="Times New Roman"/>
                <a:ea typeface="Times New Roman"/>
                <a:cs typeface="Times New Roman"/>
                <a:sym typeface="Times New Roman"/>
              </a:rPr>
              <a:t>Three enrichment analyses have been performed. The first analysis is the ORA, a.k.a Over Representation analysis, for the selection of the most present pathways. The second analysis allows the specific identification of the involved pathways using Kegg pathway repositories as to evaluate the significant impacts of the indentified pathways. The third analys is the quantitative enrichment analysis which evaluates the identified pathways by FDR and statistical significance.</a:t>
            </a:r>
            <a:endParaRPr/>
          </a:p>
          <a:p>
            <a:pPr indent="-228600" lvl="0" marL="228600" rtl="0" algn="l">
              <a:lnSpc>
                <a:spcPct val="90000"/>
              </a:lnSpc>
              <a:spcBef>
                <a:spcPts val="1000"/>
              </a:spcBef>
              <a:spcAft>
                <a:spcPts val="0"/>
              </a:spcAft>
              <a:buClr>
                <a:schemeClr val="dk1"/>
              </a:buClr>
              <a:buSzPts val="1400"/>
              <a:buChar char="•"/>
            </a:pPr>
            <a:r>
              <a:rPr lang="it-IT" sz="1400">
                <a:latin typeface="Times New Roman"/>
                <a:ea typeface="Times New Roman"/>
                <a:cs typeface="Times New Roman"/>
                <a:sym typeface="Times New Roman"/>
              </a:rPr>
              <a:t>The code for the execution of this pathways will be rendered public (Github maybe?).  </a:t>
            </a:r>
            <a:endParaRPr/>
          </a:p>
          <a:p>
            <a:pPr indent="-228600" lvl="0" marL="228600" rtl="0" algn="l">
              <a:lnSpc>
                <a:spcPct val="90000"/>
              </a:lnSpc>
              <a:spcBef>
                <a:spcPts val="1000"/>
              </a:spcBef>
              <a:spcAft>
                <a:spcPts val="0"/>
              </a:spcAft>
              <a:buClr>
                <a:schemeClr val="dk1"/>
              </a:buClr>
              <a:buSzPts val="1400"/>
              <a:buChar char="•"/>
            </a:pPr>
            <a:r>
              <a:rPr lang="it-IT" sz="1400">
                <a:latin typeface="Times New Roman"/>
                <a:ea typeface="Times New Roman"/>
                <a:cs typeface="Times New Roman"/>
                <a:sym typeface="Times New Roman"/>
              </a:rPr>
              <a:t>The following is the result of the ORA analys using smpdb database</a:t>
            </a:r>
            <a:endParaRPr/>
          </a:p>
          <a:p>
            <a:pPr indent="-114300" lvl="0" marL="228600" rtl="0" algn="l">
              <a:lnSpc>
                <a:spcPct val="90000"/>
              </a:lnSpc>
              <a:spcBef>
                <a:spcPts val="1000"/>
              </a:spcBef>
              <a:spcAft>
                <a:spcPts val="0"/>
              </a:spcAft>
              <a:buClr>
                <a:schemeClr val="dk1"/>
              </a:buClr>
              <a:buSzPts val="1800"/>
              <a:buNone/>
            </a:pPr>
            <a:r>
              <a:t/>
            </a:r>
            <a:endParaRPr sz="1800"/>
          </a:p>
        </p:txBody>
      </p:sp>
      <p:sp>
        <p:nvSpPr>
          <p:cNvPr id="133" name="Google Shape;13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t-IT"/>
              <a:t>SMPDB: </a:t>
            </a:r>
            <a:r>
              <a:rPr lang="it-IT" u="sng">
                <a:solidFill>
                  <a:schemeClr val="hlink"/>
                </a:solidFill>
                <a:hlinkClick r:id="rId3"/>
              </a:rPr>
              <a:t>https://smpdb.ca/</a:t>
            </a:r>
            <a:r>
              <a:rPr lang="it-IT"/>
              <a:t> </a:t>
            </a:r>
            <a:endParaRPr/>
          </a:p>
        </p:txBody>
      </p:sp>
      <p:sp>
        <p:nvSpPr>
          <p:cNvPr id="134" name="Google Shape;13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135" name="Google Shape;135;p6"/>
          <p:cNvPicPr preferRelativeResize="0"/>
          <p:nvPr/>
        </p:nvPicPr>
        <p:blipFill rotWithShape="1">
          <a:blip r:embed="rId4">
            <a:alphaModFix/>
          </a:blip>
          <a:srcRect b="0" l="0" r="0" t="0"/>
          <a:stretch/>
        </p:blipFill>
        <p:spPr>
          <a:xfrm>
            <a:off x="1402080" y="1746546"/>
            <a:ext cx="8783320" cy="45380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idx="1" type="body"/>
          </p:nvPr>
        </p:nvSpPr>
        <p:spPr>
          <a:xfrm>
            <a:off x="838200" y="3651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it-IT" sz="1600">
                <a:latin typeface="Times New Roman"/>
                <a:ea typeface="Times New Roman"/>
                <a:cs typeface="Times New Roman"/>
                <a:sym typeface="Times New Roman"/>
              </a:rPr>
              <a:t>The most involved pathways are those concering the TCA cycle, amino acid metabolism, and the warburg effect. These results corroborate the considerations inferred from the volcano plot. </a:t>
            </a:r>
            <a:endParaRPr/>
          </a:p>
          <a:p>
            <a:pPr indent="-228600" lvl="0" marL="228600" rtl="0" algn="l">
              <a:lnSpc>
                <a:spcPct val="90000"/>
              </a:lnSpc>
              <a:spcBef>
                <a:spcPts val="1000"/>
              </a:spcBef>
              <a:spcAft>
                <a:spcPts val="0"/>
              </a:spcAft>
              <a:buClr>
                <a:schemeClr val="dk1"/>
              </a:buClr>
              <a:buSzPts val="1600"/>
              <a:buChar char="•"/>
            </a:pPr>
            <a:r>
              <a:rPr lang="it-IT" sz="1600">
                <a:latin typeface="Times New Roman"/>
                <a:ea typeface="Times New Roman"/>
                <a:cs typeface="Times New Roman"/>
                <a:sym typeface="Times New Roman"/>
              </a:rPr>
              <a:t>The following is the result of the Kegg enrichment analysis </a:t>
            </a:r>
            <a:endParaRPr/>
          </a:p>
        </p:txBody>
      </p:sp>
      <p:sp>
        <p:nvSpPr>
          <p:cNvPr id="141" name="Google Shape;14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42" name="Google Shape;14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143" name="Google Shape;143;p7"/>
          <p:cNvPicPr preferRelativeResize="0"/>
          <p:nvPr/>
        </p:nvPicPr>
        <p:blipFill rotWithShape="1">
          <a:blip r:embed="rId3">
            <a:alphaModFix/>
          </a:blip>
          <a:srcRect b="0" l="0" r="0" t="0"/>
          <a:stretch/>
        </p:blipFill>
        <p:spPr>
          <a:xfrm>
            <a:off x="1351280" y="1488439"/>
            <a:ext cx="8920480" cy="460891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txBox="1"/>
          <p:nvPr>
            <p:ph idx="1" type="body"/>
          </p:nvPr>
        </p:nvSpPr>
        <p:spPr>
          <a:xfrm>
            <a:off x="838200" y="3651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it-IT" sz="1600">
                <a:latin typeface="Times New Roman"/>
                <a:ea typeface="Times New Roman"/>
                <a:cs typeface="Times New Roman"/>
                <a:sym typeface="Times New Roman"/>
              </a:rPr>
              <a:t>The most impactful pathways are the TCA cycle, the metabolism of  Alanine, Aspartate and Glutamate and the metabolism of Glycine, Serine and Threonine.</a:t>
            </a:r>
            <a:endParaRPr/>
          </a:p>
          <a:p>
            <a:pPr indent="-228600" lvl="0" marL="228600" rtl="0" algn="l">
              <a:lnSpc>
                <a:spcPct val="90000"/>
              </a:lnSpc>
              <a:spcBef>
                <a:spcPts val="1000"/>
              </a:spcBef>
              <a:spcAft>
                <a:spcPts val="0"/>
              </a:spcAft>
              <a:buClr>
                <a:schemeClr val="dk1"/>
              </a:buClr>
              <a:buSzPts val="1600"/>
              <a:buChar char="•"/>
            </a:pPr>
            <a:r>
              <a:rPr lang="it-IT" sz="1600">
                <a:latin typeface="Times New Roman"/>
                <a:ea typeface="Times New Roman"/>
                <a:cs typeface="Times New Roman"/>
                <a:sym typeface="Times New Roman"/>
              </a:rPr>
              <a:t>The following is the result of the QEA analysis, which further corroborates  the results of ORA and KEGG enrichment </a:t>
            </a:r>
            <a:endParaRPr/>
          </a:p>
          <a:p>
            <a:pPr indent="-114300" lvl="0" marL="22860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p:txBody>
      </p:sp>
      <p:sp>
        <p:nvSpPr>
          <p:cNvPr id="149" name="Google Shape;149;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50" name="Google Shape;15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151" name="Google Shape;151;p8"/>
          <p:cNvPicPr preferRelativeResize="0"/>
          <p:nvPr/>
        </p:nvPicPr>
        <p:blipFill rotWithShape="1">
          <a:blip r:embed="rId3">
            <a:alphaModFix/>
          </a:blip>
          <a:srcRect b="0" l="0" r="0" t="0"/>
          <a:stretch/>
        </p:blipFill>
        <p:spPr>
          <a:xfrm>
            <a:off x="1350280" y="1529072"/>
            <a:ext cx="9343120" cy="482727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lang="it-IT" sz="3600">
                <a:latin typeface="Times New Roman"/>
                <a:ea typeface="Times New Roman"/>
                <a:cs typeface="Times New Roman"/>
                <a:sym typeface="Times New Roman"/>
              </a:rPr>
              <a:t>2. PCA  &amp; VOLCANO PLOT FOR SH SLC1A5</a:t>
            </a:r>
            <a:endParaRPr/>
          </a:p>
        </p:txBody>
      </p:sp>
      <p:sp>
        <p:nvSpPr>
          <p:cNvPr id="157" name="Google Shape;15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it-IT" sz="1600">
                <a:latin typeface="Times New Roman"/>
                <a:ea typeface="Times New Roman"/>
                <a:cs typeface="Times New Roman"/>
                <a:sym typeface="Times New Roman"/>
              </a:rPr>
              <a:t>We compared VEGFR2 R1032Q  SH SLC1A5 against VEGFR2 R1032Q, as well as VEGFR2 WT SH SLC1A5 against VEGFR2 WT. The following are the results of the PCA analyses.</a:t>
            </a:r>
            <a:endParaRPr/>
          </a:p>
          <a:p>
            <a:pPr indent="-228600" lvl="0" marL="228600" rtl="0" algn="l">
              <a:lnSpc>
                <a:spcPct val="90000"/>
              </a:lnSpc>
              <a:spcBef>
                <a:spcPts val="1000"/>
              </a:spcBef>
              <a:spcAft>
                <a:spcPts val="0"/>
              </a:spcAft>
              <a:buClr>
                <a:schemeClr val="dk1"/>
              </a:buClr>
              <a:buSzPts val="1600"/>
              <a:buChar char="•"/>
            </a:pPr>
            <a:r>
              <a:rPr lang="it-IT" sz="1600">
                <a:latin typeface="Times New Roman"/>
                <a:ea typeface="Times New Roman"/>
                <a:cs typeface="Times New Roman"/>
                <a:sym typeface="Times New Roman"/>
              </a:rPr>
              <a:t>In this case data have been clustered along three principal components. </a:t>
            </a:r>
            <a:endParaRPr/>
          </a:p>
        </p:txBody>
      </p:sp>
      <p:sp>
        <p:nvSpPr>
          <p:cNvPr id="158" name="Google Shape;15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59" name="Google Shape;15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160" name="Google Shape;160;p9"/>
          <p:cNvPicPr preferRelativeResize="0"/>
          <p:nvPr/>
        </p:nvPicPr>
        <p:blipFill rotWithShape="1">
          <a:blip r:embed="rId3">
            <a:alphaModFix/>
          </a:blip>
          <a:srcRect b="0" l="0" r="0" t="0"/>
          <a:stretch/>
        </p:blipFill>
        <p:spPr>
          <a:xfrm>
            <a:off x="1395540" y="2700067"/>
            <a:ext cx="4441380" cy="3172414"/>
          </a:xfrm>
          <a:prstGeom prst="rect">
            <a:avLst/>
          </a:prstGeom>
          <a:noFill/>
          <a:ln>
            <a:noFill/>
          </a:ln>
        </p:spPr>
      </p:pic>
      <p:pic>
        <p:nvPicPr>
          <p:cNvPr id="161" name="Google Shape;161;p9"/>
          <p:cNvPicPr preferRelativeResize="0"/>
          <p:nvPr/>
        </p:nvPicPr>
        <p:blipFill rotWithShape="1">
          <a:blip r:embed="rId4">
            <a:alphaModFix/>
          </a:blip>
          <a:srcRect b="0" l="0" r="0" t="0"/>
          <a:stretch/>
        </p:blipFill>
        <p:spPr>
          <a:xfrm>
            <a:off x="6719380" y="2700067"/>
            <a:ext cx="4441380" cy="3172414"/>
          </a:xfrm>
          <a:prstGeom prst="rect">
            <a:avLst/>
          </a:prstGeom>
          <a:noFill/>
          <a:ln>
            <a:noFill/>
          </a:ln>
        </p:spPr>
      </p:pic>
      <p:sp>
        <p:nvSpPr>
          <p:cNvPr id="162" name="Google Shape;162;p9"/>
          <p:cNvSpPr txBox="1"/>
          <p:nvPr/>
        </p:nvSpPr>
        <p:spPr>
          <a:xfrm>
            <a:off x="1822260" y="5872481"/>
            <a:ext cx="301076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it-IT" sz="1000" u="none" cap="none" strike="noStrike">
                <a:solidFill>
                  <a:schemeClr val="dk1"/>
                </a:solidFill>
                <a:latin typeface="Times New Roman"/>
                <a:ea typeface="Times New Roman"/>
                <a:cs typeface="Times New Roman"/>
                <a:sym typeface="Times New Roman"/>
              </a:rPr>
              <a:t>VEGFR2 R1032Q  SH SLC1A5  vs VEGFR2 R1032Q</a:t>
            </a:r>
            <a:endParaRPr sz="1000">
              <a:solidFill>
                <a:schemeClr val="dk1"/>
              </a:solidFill>
              <a:latin typeface="Arial"/>
              <a:ea typeface="Arial"/>
              <a:cs typeface="Arial"/>
              <a:sym typeface="Arial"/>
            </a:endParaRPr>
          </a:p>
        </p:txBody>
      </p:sp>
      <p:sp>
        <p:nvSpPr>
          <p:cNvPr id="163" name="Google Shape;163;p9"/>
          <p:cNvSpPr txBox="1"/>
          <p:nvPr/>
        </p:nvSpPr>
        <p:spPr>
          <a:xfrm>
            <a:off x="7339608" y="5872481"/>
            <a:ext cx="202651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000">
                <a:solidFill>
                  <a:schemeClr val="dk1"/>
                </a:solidFill>
                <a:latin typeface="Times New Roman"/>
                <a:ea typeface="Times New Roman"/>
                <a:cs typeface="Times New Roman"/>
                <a:sym typeface="Times New Roman"/>
              </a:rPr>
              <a:t>VEGFR2 WT  SH SLC1A5  vs WT</a:t>
            </a:r>
            <a:endParaRPr sz="10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idx="1" type="body"/>
          </p:nvPr>
        </p:nvSpPr>
        <p:spPr>
          <a:xfrm>
            <a:off x="838200" y="365124"/>
            <a:ext cx="10515600" cy="51517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400"/>
              <a:buChar char="•"/>
            </a:pPr>
            <a:r>
              <a:rPr lang="it-IT" sz="1400">
                <a:latin typeface="Times New Roman"/>
                <a:ea typeface="Times New Roman"/>
                <a:cs typeface="Times New Roman"/>
                <a:sym typeface="Times New Roman"/>
              </a:rPr>
              <a:t>The data point are nicely clustered </a:t>
            </a:r>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1400"/>
              <a:buChar char="•"/>
            </a:pPr>
            <a:r>
              <a:rPr lang="it-IT" sz="1400">
                <a:latin typeface="Times New Roman"/>
                <a:ea typeface="Times New Roman"/>
                <a:cs typeface="Times New Roman"/>
                <a:sym typeface="Times New Roman"/>
              </a:rPr>
              <a:t>It seems that an identical pattern of clusterization emerges in both cases.</a:t>
            </a:r>
            <a:endParaRPr/>
          </a:p>
        </p:txBody>
      </p:sp>
      <p:sp>
        <p:nvSpPr>
          <p:cNvPr id="169" name="Google Shape;16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70" name="Google Shape;17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171" name="Google Shape;171;p10"/>
          <p:cNvPicPr preferRelativeResize="0"/>
          <p:nvPr/>
        </p:nvPicPr>
        <p:blipFill rotWithShape="1">
          <a:blip r:embed="rId3">
            <a:alphaModFix/>
          </a:blip>
          <a:srcRect b="0" l="0" r="0" t="0"/>
          <a:stretch/>
        </p:blipFill>
        <p:spPr>
          <a:xfrm>
            <a:off x="344106" y="1179273"/>
            <a:ext cx="5431416" cy="2970498"/>
          </a:xfrm>
          <a:prstGeom prst="rect">
            <a:avLst/>
          </a:prstGeom>
          <a:noFill/>
          <a:ln>
            <a:noFill/>
          </a:ln>
        </p:spPr>
      </p:pic>
      <p:pic>
        <p:nvPicPr>
          <p:cNvPr id="172" name="Google Shape;172;p10"/>
          <p:cNvPicPr preferRelativeResize="0"/>
          <p:nvPr/>
        </p:nvPicPr>
        <p:blipFill rotWithShape="1">
          <a:blip r:embed="rId4">
            <a:alphaModFix/>
          </a:blip>
          <a:srcRect b="0" l="0" r="0" t="0"/>
          <a:stretch/>
        </p:blipFill>
        <p:spPr>
          <a:xfrm>
            <a:off x="5220905" y="970403"/>
            <a:ext cx="6474589" cy="33882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1"/>
          <p:cNvSpPr txBox="1"/>
          <p:nvPr>
            <p:ph idx="1" type="body"/>
          </p:nvPr>
        </p:nvSpPr>
        <p:spPr>
          <a:xfrm>
            <a:off x="838200" y="3651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400"/>
              <a:buChar char="•"/>
            </a:pPr>
            <a:r>
              <a:rPr lang="it-IT" sz="1400">
                <a:latin typeface="Times New Roman"/>
                <a:ea typeface="Times New Roman"/>
                <a:cs typeface="Times New Roman"/>
                <a:sym typeface="Times New Roman"/>
              </a:rPr>
              <a:t>Indeed, regardless of the expressed receptor, in both cases, silecing of SLC1A5, induced a metabolic shift towards the synthesis of aminoacids, thought it seems that the cells expressing VEGFR2 R1032Q seem more susceptible. </a:t>
            </a:r>
            <a:endParaRPr/>
          </a:p>
          <a:p>
            <a:pPr indent="0" lvl="0" marL="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p:txBody>
      </p:sp>
      <p:sp>
        <p:nvSpPr>
          <p:cNvPr id="178" name="Google Shape;17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79" name="Google Shape;17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180" name="Google Shape;180;p11"/>
          <p:cNvPicPr preferRelativeResize="0"/>
          <p:nvPr/>
        </p:nvPicPr>
        <p:blipFill rotWithShape="1">
          <a:blip r:embed="rId3">
            <a:alphaModFix/>
          </a:blip>
          <a:srcRect b="0" l="0" r="0" t="0"/>
          <a:stretch/>
        </p:blipFill>
        <p:spPr>
          <a:xfrm>
            <a:off x="1437640" y="1331506"/>
            <a:ext cx="9159240" cy="470855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186" name="Google Shape;186;p12"/>
          <p:cNvPicPr preferRelativeResize="0"/>
          <p:nvPr>
            <p:ph idx="1" type="body"/>
          </p:nvPr>
        </p:nvPicPr>
        <p:blipFill rotWithShape="1">
          <a:blip r:embed="rId3">
            <a:alphaModFix/>
          </a:blip>
          <a:srcRect b="0" l="0" r="0" t="0"/>
          <a:stretch/>
        </p:blipFill>
        <p:spPr>
          <a:xfrm>
            <a:off x="1338576" y="365125"/>
            <a:ext cx="9514847" cy="4876483"/>
          </a:xfrm>
          <a:prstGeom prst="rect">
            <a:avLst/>
          </a:prstGeom>
          <a:noFill/>
          <a:ln>
            <a:noFill/>
          </a:ln>
        </p:spPr>
      </p:pic>
      <p:sp>
        <p:nvSpPr>
          <p:cNvPr id="187" name="Google Shape;18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88" name="Google Shape;18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
        <p:nvSpPr>
          <p:cNvPr id="189" name="Google Shape;189;p12"/>
          <p:cNvSpPr txBox="1"/>
          <p:nvPr/>
        </p:nvSpPr>
        <p:spPr>
          <a:xfrm>
            <a:off x="934720" y="5527040"/>
            <a:ext cx="108034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800">
                <a:solidFill>
                  <a:schemeClr val="dk1"/>
                </a:solidFill>
                <a:latin typeface="Arial"/>
                <a:ea typeface="Arial"/>
                <a:cs typeface="Arial"/>
                <a:sym typeface="Arial"/>
              </a:rPr>
              <a:t>Indeed it seems that the fold changes for VEGFR2 R1032Q SH SLC1A5 are clustered into two distinct groups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3"/>
          <p:cNvSpPr txBox="1"/>
          <p:nvPr>
            <p:ph idx="1" type="body"/>
          </p:nvPr>
        </p:nvSpPr>
        <p:spPr>
          <a:xfrm>
            <a:off x="746760" y="210184"/>
            <a:ext cx="10515600" cy="49104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400"/>
              <a:buChar char="•"/>
            </a:pPr>
            <a:r>
              <a:rPr lang="it-IT" sz="1400">
                <a:latin typeface="Times New Roman"/>
                <a:ea typeface="Times New Roman"/>
                <a:cs typeface="Times New Roman"/>
                <a:sym typeface="Times New Roman"/>
              </a:rPr>
              <a:t>The increase in amino acid synthesis of NEAAs or uptake of essential aminoacids is confirmed by pathway enrichment analyses.</a:t>
            </a:r>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400"/>
              <a:buNone/>
            </a:pPr>
            <a:r>
              <a:rPr lang="it-IT" sz="1400">
                <a:latin typeface="Times New Roman"/>
                <a:ea typeface="Times New Roman"/>
                <a:cs typeface="Times New Roman"/>
                <a:sym typeface="Times New Roman"/>
              </a:rPr>
              <a:t> </a:t>
            </a:r>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p:txBody>
      </p:sp>
      <p:sp>
        <p:nvSpPr>
          <p:cNvPr id="195" name="Google Shape;19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96" name="Google Shape;19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197" name="Google Shape;197;p13"/>
          <p:cNvPicPr preferRelativeResize="0"/>
          <p:nvPr/>
        </p:nvPicPr>
        <p:blipFill rotWithShape="1">
          <a:blip r:embed="rId3">
            <a:alphaModFix/>
          </a:blip>
          <a:srcRect b="0" l="0" r="0" t="0"/>
          <a:stretch/>
        </p:blipFill>
        <p:spPr>
          <a:xfrm>
            <a:off x="1113293" y="814926"/>
            <a:ext cx="10149067" cy="522814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203" name="Google Shape;203;p14"/>
          <p:cNvPicPr preferRelativeResize="0"/>
          <p:nvPr>
            <p:ph idx="1" type="body"/>
          </p:nvPr>
        </p:nvPicPr>
        <p:blipFill rotWithShape="1">
          <a:blip r:embed="rId3">
            <a:alphaModFix/>
          </a:blip>
          <a:srcRect b="0" l="0" r="0" t="0"/>
          <a:stretch/>
        </p:blipFill>
        <p:spPr>
          <a:xfrm>
            <a:off x="1158241" y="843971"/>
            <a:ext cx="9661762" cy="4926592"/>
          </a:xfrm>
          <a:prstGeom prst="rect">
            <a:avLst/>
          </a:prstGeom>
          <a:noFill/>
          <a:ln>
            <a:noFill/>
          </a:ln>
        </p:spPr>
      </p:pic>
      <p:sp>
        <p:nvSpPr>
          <p:cNvPr id="204" name="Google Shape;204;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05" name="Google Shape;205;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211" name="Google Shape;211;p15"/>
          <p:cNvPicPr preferRelativeResize="0"/>
          <p:nvPr>
            <p:ph idx="1" type="body"/>
          </p:nvPr>
        </p:nvPicPr>
        <p:blipFill rotWithShape="1">
          <a:blip r:embed="rId3">
            <a:alphaModFix/>
          </a:blip>
          <a:srcRect b="0" l="0" r="0" t="0"/>
          <a:stretch/>
        </p:blipFill>
        <p:spPr>
          <a:xfrm>
            <a:off x="1160031" y="640080"/>
            <a:ext cx="9871937" cy="5049203"/>
          </a:xfrm>
          <a:prstGeom prst="rect">
            <a:avLst/>
          </a:prstGeom>
          <a:noFill/>
          <a:ln>
            <a:noFill/>
          </a:ln>
        </p:spPr>
      </p:pic>
      <p:sp>
        <p:nvSpPr>
          <p:cNvPr id="212" name="Google Shape;21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13" name="Google Shape;21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19" name="Google Shape;21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220" name="Google Shape;220;p16"/>
          <p:cNvPicPr preferRelativeResize="0"/>
          <p:nvPr/>
        </p:nvPicPr>
        <p:blipFill rotWithShape="1">
          <a:blip r:embed="rId3">
            <a:alphaModFix/>
          </a:blip>
          <a:srcRect b="0" l="0" r="0" t="0"/>
          <a:stretch/>
        </p:blipFill>
        <p:spPr>
          <a:xfrm>
            <a:off x="1173480" y="402131"/>
            <a:ext cx="10180320" cy="524151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226" name="Google Shape;226;p17"/>
          <p:cNvPicPr preferRelativeResize="0"/>
          <p:nvPr>
            <p:ph idx="1" type="body"/>
          </p:nvPr>
        </p:nvPicPr>
        <p:blipFill rotWithShape="1">
          <a:blip r:embed="rId3">
            <a:alphaModFix/>
          </a:blip>
          <a:srcRect b="0" l="0" r="0" t="0"/>
          <a:stretch/>
        </p:blipFill>
        <p:spPr>
          <a:xfrm>
            <a:off x="838200" y="1027906"/>
            <a:ext cx="9776860" cy="5015866"/>
          </a:xfrm>
          <a:prstGeom prst="rect">
            <a:avLst/>
          </a:prstGeom>
          <a:noFill/>
          <a:ln>
            <a:noFill/>
          </a:ln>
        </p:spPr>
      </p:pic>
      <p:sp>
        <p:nvSpPr>
          <p:cNvPr id="227" name="Google Shape;22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28" name="Google Shape;22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234" name="Google Shape;234;p18"/>
          <p:cNvPicPr preferRelativeResize="0"/>
          <p:nvPr>
            <p:ph idx="1" type="body"/>
          </p:nvPr>
        </p:nvPicPr>
        <p:blipFill rotWithShape="1">
          <a:blip r:embed="rId3">
            <a:alphaModFix/>
          </a:blip>
          <a:srcRect b="0" l="0" r="0" t="0"/>
          <a:stretch/>
        </p:blipFill>
        <p:spPr>
          <a:xfrm>
            <a:off x="838200" y="752475"/>
            <a:ext cx="9836224" cy="5059363"/>
          </a:xfrm>
          <a:prstGeom prst="rect">
            <a:avLst/>
          </a:prstGeom>
          <a:noFill/>
          <a:ln>
            <a:noFill/>
          </a:ln>
        </p:spPr>
      </p:pic>
      <p:sp>
        <p:nvSpPr>
          <p:cNvPr id="235" name="Google Shape;23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36" name="Google Shape;23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9"/>
          <p:cNvSpPr txBox="1"/>
          <p:nvPr>
            <p:ph idx="1" type="body"/>
          </p:nvPr>
        </p:nvSpPr>
        <p:spPr>
          <a:xfrm>
            <a:off x="482600" y="298132"/>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400"/>
              <a:buChar char="•"/>
            </a:pPr>
            <a:r>
              <a:rPr lang="it-IT" sz="1400">
                <a:latin typeface="Times New Roman"/>
                <a:ea typeface="Times New Roman"/>
                <a:cs typeface="Times New Roman"/>
                <a:sym typeface="Times New Roman"/>
              </a:rPr>
              <a:t>If we compare fold changes of upregulated metabolites, for R1032Q  silencing condition there is a considerable increase for Serine and Alanine. Aspartate is only significantly upregulated in the R1032Q silencing condition</a:t>
            </a:r>
            <a:endParaRPr sz="1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1400"/>
              <a:buChar char="•"/>
            </a:pPr>
            <a:r>
              <a:rPr lang="it-IT" sz="1400">
                <a:latin typeface="Times New Roman"/>
                <a:ea typeface="Times New Roman"/>
                <a:cs typeface="Times New Roman"/>
                <a:sym typeface="Times New Roman"/>
              </a:rPr>
              <a:t>If we compare by significance , we obtain two clusters for the R1032Q silencing condition. </a:t>
            </a:r>
            <a:endParaRPr/>
          </a:p>
        </p:txBody>
      </p:sp>
      <p:sp>
        <p:nvSpPr>
          <p:cNvPr id="242" name="Google Shape;24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43" name="Google Shape;24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244" name="Google Shape;244;p19"/>
          <p:cNvPicPr preferRelativeResize="0"/>
          <p:nvPr/>
        </p:nvPicPr>
        <p:blipFill rotWithShape="1">
          <a:blip r:embed="rId3">
            <a:alphaModFix/>
          </a:blip>
          <a:srcRect b="0" l="0" r="0" t="0"/>
          <a:stretch/>
        </p:blipFill>
        <p:spPr>
          <a:xfrm>
            <a:off x="1127760" y="1513877"/>
            <a:ext cx="9225280" cy="474731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50" name="Google Shape;25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251" name="Google Shape;251;p20"/>
          <p:cNvPicPr preferRelativeResize="0"/>
          <p:nvPr>
            <p:ph idx="1" type="body"/>
          </p:nvPr>
        </p:nvPicPr>
        <p:blipFill rotWithShape="1">
          <a:blip r:embed="rId3">
            <a:alphaModFix/>
          </a:blip>
          <a:srcRect b="0" l="0" r="0" t="0"/>
          <a:stretch/>
        </p:blipFill>
        <p:spPr>
          <a:xfrm>
            <a:off x="1232061" y="803275"/>
            <a:ext cx="9727877" cy="500856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257" name="Google Shape;257;p21"/>
          <p:cNvPicPr preferRelativeResize="0"/>
          <p:nvPr>
            <p:ph idx="1" type="body"/>
          </p:nvPr>
        </p:nvPicPr>
        <p:blipFill rotWithShape="1">
          <a:blip r:embed="rId3">
            <a:alphaModFix/>
          </a:blip>
          <a:srcRect b="0" l="0" r="0" t="0"/>
          <a:stretch/>
        </p:blipFill>
        <p:spPr>
          <a:xfrm>
            <a:off x="838200" y="858008"/>
            <a:ext cx="9982109" cy="5141983"/>
          </a:xfrm>
          <a:prstGeom prst="rect">
            <a:avLst/>
          </a:prstGeom>
          <a:noFill/>
          <a:ln>
            <a:noFill/>
          </a:ln>
        </p:spPr>
      </p:pic>
      <p:sp>
        <p:nvSpPr>
          <p:cNvPr id="258" name="Google Shape;25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59" name="Google Shape;25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265" name="Google Shape;26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66" name="Google Shape;26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267" name="Google Shape;267;p22"/>
          <p:cNvPicPr preferRelativeResize="0"/>
          <p:nvPr>
            <p:ph idx="1" type="body"/>
          </p:nvPr>
        </p:nvPicPr>
        <p:blipFill rotWithShape="1">
          <a:blip r:embed="rId3">
            <a:alphaModFix/>
          </a:blip>
          <a:srcRect b="0" l="0" r="0" t="0"/>
          <a:stretch/>
        </p:blipFill>
        <p:spPr>
          <a:xfrm>
            <a:off x="920676" y="884078"/>
            <a:ext cx="9890900" cy="508984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273" name="Google Shape;27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74" name="Google Shape;27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275" name="Google Shape;275;p23"/>
          <p:cNvPicPr preferRelativeResize="0"/>
          <p:nvPr>
            <p:ph idx="1" type="body"/>
          </p:nvPr>
        </p:nvPicPr>
        <p:blipFill rotWithShape="1">
          <a:blip r:embed="rId3">
            <a:alphaModFix/>
          </a:blip>
          <a:srcRect b="0" l="0" r="0" t="0"/>
          <a:stretch/>
        </p:blipFill>
        <p:spPr>
          <a:xfrm>
            <a:off x="930260" y="889158"/>
            <a:ext cx="9871156" cy="507968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4"/>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it-IT"/>
              <a:t>Box plot </a:t>
            </a:r>
            <a:endParaRPr/>
          </a:p>
        </p:txBody>
      </p:sp>
      <p:sp>
        <p:nvSpPr>
          <p:cNvPr id="281" name="Google Shape;28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82" name="Google Shape;28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283" name="Google Shape;283;p24"/>
          <p:cNvPicPr preferRelativeResize="0"/>
          <p:nvPr>
            <p:ph idx="1" type="body"/>
          </p:nvPr>
        </p:nvPicPr>
        <p:blipFill rotWithShape="1">
          <a:blip r:embed="rId3">
            <a:alphaModFix/>
          </a:blip>
          <a:srcRect b="0" l="0" r="0" t="0"/>
          <a:stretch/>
        </p:blipFill>
        <p:spPr>
          <a:xfrm>
            <a:off x="1730813" y="1462088"/>
            <a:ext cx="8730374" cy="448821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it-IT"/>
              <a:t>Mouse VEGFR2 WT VS R1032Q	</a:t>
            </a:r>
            <a:endParaRPr/>
          </a:p>
        </p:txBody>
      </p:sp>
      <p:sp>
        <p:nvSpPr>
          <p:cNvPr id="289" name="Google Shape;289;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400"/>
              <a:buChar char="•"/>
            </a:pPr>
            <a:r>
              <a:rPr lang="it-IT" sz="1400">
                <a:latin typeface="Times New Roman"/>
                <a:ea typeface="Times New Roman"/>
                <a:cs typeface="Times New Roman"/>
                <a:sym typeface="Times New Roman"/>
              </a:rPr>
              <a:t>Sebbene vi fossero una miriade di contaminanti sintetici e microbici a livello dell’analisi untargeted, sono stati individuati metaboliti coinvolti in quei stessi pathway individuati nell’analisi targeted.  Di seguito risultati KEGG.</a:t>
            </a:r>
            <a:endParaRPr/>
          </a:p>
          <a:p>
            <a:pPr indent="-139700" lvl="0" marL="228600" rtl="0" algn="l">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p:txBody>
      </p:sp>
      <p:sp>
        <p:nvSpPr>
          <p:cNvPr id="290" name="Google Shape;290;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91" name="Google Shape;291;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292" name="Google Shape;292;p25"/>
          <p:cNvPicPr preferRelativeResize="0"/>
          <p:nvPr/>
        </p:nvPicPr>
        <p:blipFill rotWithShape="1">
          <a:blip r:embed="rId3">
            <a:alphaModFix/>
          </a:blip>
          <a:srcRect b="0" l="0" r="0" t="0"/>
          <a:stretch/>
        </p:blipFill>
        <p:spPr>
          <a:xfrm>
            <a:off x="1718269" y="2305587"/>
            <a:ext cx="8052916" cy="405076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298" name="Google Shape;298;p26"/>
          <p:cNvPicPr preferRelativeResize="0"/>
          <p:nvPr>
            <p:ph idx="1" type="body"/>
          </p:nvPr>
        </p:nvPicPr>
        <p:blipFill rotWithShape="1">
          <a:blip r:embed="rId3">
            <a:alphaModFix/>
          </a:blip>
          <a:srcRect b="0" l="0" r="0" t="0"/>
          <a:stretch/>
        </p:blipFill>
        <p:spPr>
          <a:xfrm>
            <a:off x="2773345" y="427927"/>
            <a:ext cx="6353014" cy="5717713"/>
          </a:xfrm>
          <a:prstGeom prst="rect">
            <a:avLst/>
          </a:prstGeom>
          <a:noFill/>
          <a:ln>
            <a:noFill/>
          </a:ln>
        </p:spPr>
      </p:pic>
      <p:sp>
        <p:nvSpPr>
          <p:cNvPr id="299" name="Google Shape;29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00" name="Google Shape;30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7"/>
          <p:cNvSpPr txBox="1"/>
          <p:nvPr>
            <p:ph idx="1" type="body"/>
          </p:nvPr>
        </p:nvSpPr>
        <p:spPr>
          <a:xfrm>
            <a:off x="838200" y="449109"/>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400"/>
              <a:buChar char="•"/>
            </a:pPr>
            <a:r>
              <a:rPr lang="it-IT" sz="1400">
                <a:latin typeface="Times New Roman"/>
                <a:ea typeface="Times New Roman"/>
                <a:cs typeface="Times New Roman"/>
                <a:sym typeface="Times New Roman"/>
              </a:rPr>
              <a:t>Di seguito risultati ORA smdbp</a:t>
            </a:r>
            <a:endParaRPr sz="1400">
              <a:latin typeface="Times New Roman"/>
              <a:ea typeface="Times New Roman"/>
              <a:cs typeface="Times New Roman"/>
              <a:sym typeface="Times New Roman"/>
            </a:endParaRPr>
          </a:p>
        </p:txBody>
      </p:sp>
      <p:sp>
        <p:nvSpPr>
          <p:cNvPr id="306" name="Google Shape;30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07" name="Google Shape;30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pic>
        <p:nvPicPr>
          <p:cNvPr id="308" name="Google Shape;308;p27"/>
          <p:cNvPicPr preferRelativeResize="0"/>
          <p:nvPr/>
        </p:nvPicPr>
        <p:blipFill rotWithShape="1">
          <a:blip r:embed="rId3">
            <a:alphaModFix/>
          </a:blip>
          <a:srcRect b="0" l="0" r="0" t="0"/>
          <a:stretch/>
        </p:blipFill>
        <p:spPr>
          <a:xfrm>
            <a:off x="2898949" y="767827"/>
            <a:ext cx="6615165" cy="595364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28"/>
          <p:cNvPicPr preferRelativeResize="0"/>
          <p:nvPr>
            <p:ph idx="1" type="body"/>
          </p:nvPr>
        </p:nvPicPr>
        <p:blipFill rotWithShape="1">
          <a:blip r:embed="rId3">
            <a:alphaModFix/>
          </a:blip>
          <a:srcRect b="0" l="0" r="0" t="0"/>
          <a:stretch/>
        </p:blipFill>
        <p:spPr>
          <a:xfrm>
            <a:off x="951148" y="1027906"/>
            <a:ext cx="9982548" cy="5021403"/>
          </a:xfrm>
          <a:prstGeom prst="rect">
            <a:avLst/>
          </a:prstGeom>
          <a:noFill/>
          <a:ln>
            <a:noFill/>
          </a:ln>
        </p:spPr>
      </p:pic>
      <p:sp>
        <p:nvSpPr>
          <p:cNvPr id="314" name="Google Shape;31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15" name="Google Shape;315;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2026-05-07T13:56:44Z</dcterms:created>
  <dc:creator>manjot singh</dc:creator>
</cp:coreProperties>
</file>